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19" y="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671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E1F5E"/>
          </a:solidFill>
          <a:ln w="12700">
            <a:solidFill>
              <a:srgbClr val="2E1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2E1F5E"/>
          </a:solidFill>
          <a:ln w="12700">
            <a:solidFill>
              <a:srgbClr val="2E1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7F77DD"/>
                </a:solidFill>
              </a:rPr>
              <a:t>RESEARCH PRESENTATION ·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i="1" dirty="0">
                <a:solidFill>
                  <a:srgbClr val="B8F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.PREMIUM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 smtClean="0">
                <a:solidFill>
                  <a:srgbClr val="B0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dirty="0">
                <a:solidFill>
                  <a:srgbClr val="B0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Recommendation System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Sri Lanka's Media &amp; Aesthetic Industry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E1F5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66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7DD"/>
                </a:solidFill>
              </a:rPr>
              <a:t>Neural Networks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33472" y="356616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E1F5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3566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7DD"/>
                </a:solidFill>
              </a:rPr>
              <a:t>MCDM Framework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18304" y="356616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E1F5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566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7DD"/>
                </a:solidFill>
              </a:rPr>
              <a:t>K-Means Clustering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03136" y="356616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E1F5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3566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7DD"/>
                </a:solidFill>
              </a:rPr>
              <a:t>Real-Time Scoring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" y="40462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5FA0"/>
                </a:solidFill>
              </a:rPr>
              <a:t>Democratizing access · Transparent scoring · National-level fairness</a:t>
            </a:r>
            <a:endParaRPr lang="en-US" sz="1000" dirty="0"/>
          </a:p>
        </p:txBody>
      </p:sp>
      <p:sp>
        <p:nvSpPr>
          <p:cNvPr id="17" name="Text 5"/>
          <p:cNvSpPr/>
          <p:nvPr/>
        </p:nvSpPr>
        <p:spPr>
          <a:xfrm>
            <a:off x="902825" y="4143737"/>
            <a:ext cx="7326775" cy="748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smtClean="0">
                <a:solidFill>
                  <a:srgbClr val="A8C8B8"/>
                </a:solidFill>
              </a:rPr>
              <a:t>BSCS0122011377</a:t>
            </a:r>
            <a:r>
              <a:rPr lang="en-US" sz="950" smtClean="0">
                <a:solidFill>
                  <a:srgbClr val="A8C8B8"/>
                </a:solidFill>
              </a:rPr>
              <a:t>  </a:t>
            </a:r>
            <a:r>
              <a:rPr lang="en-US" sz="950" dirty="0">
                <a:solidFill>
                  <a:srgbClr val="A8C8B8"/>
                </a:solidFill>
              </a:rPr>
              <a:t>•  </a:t>
            </a:r>
            <a:r>
              <a:rPr lang="en-US" sz="950" dirty="0" smtClean="0">
                <a:solidFill>
                  <a:srgbClr val="A8C8B8"/>
                </a:solidFill>
              </a:rPr>
              <a:t>G R C D Dharmasena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C8B8"/>
                </a:solidFill>
              </a:rPr>
              <a:t>BSc (Hons) Computer Science  •  Saegis </a:t>
            </a:r>
            <a:r>
              <a:rPr lang="en-US" sz="950" dirty="0" smtClean="0">
                <a:solidFill>
                  <a:srgbClr val="A8C8B8"/>
                </a:solidFill>
              </a:rPr>
              <a:t>Campus</a:t>
            </a:r>
          </a:p>
          <a:p>
            <a:pPr marL="0" indent="0" algn="ctr">
              <a:buNone/>
            </a:pPr>
            <a:r>
              <a:rPr lang="en-US" sz="950" dirty="0" smtClean="0">
                <a:solidFill>
                  <a:srgbClr val="A8C8B8"/>
                </a:solidFill>
              </a:rPr>
              <a:t>Supervised by Mrs. Tharushi Pramodhya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0A8E0"/>
                </a:solidFill>
              </a:rPr>
              <a:t>CHAPTER 1  ·  INTRODUCTION &amp; BACKGROUND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Context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</a:rPr>
              <a:t>Sri Lanka's media industry lacks an objective, scalable mechanism for identifying national-level talent.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64008" cy="13258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288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035"/>
                </a:solidFill>
              </a:rPr>
              <a:t>Manual &amp; Localized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0352" y="214884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Scouts rely on personal networks and physical auditions — no standardized framework exists.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6916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691640"/>
            <a:ext cx="64008" cy="13258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8288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035"/>
                </a:solidFill>
              </a:rPr>
              <a:t>Barrier for Diverse Talent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28032" y="214884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Professionals from rural areas cannot bridge the gap to national recognition without connections.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31546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3154680"/>
            <a:ext cx="64008" cy="13258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2918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" y="3246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035"/>
                </a:solidFill>
              </a:rPr>
              <a:t>Lack of Transparency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30352" y="361188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No benchmarking system allows emerging talent to compare objectively with established professionals.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31546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663440" y="3154680"/>
            <a:ext cx="64008" cy="13258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2918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93792" y="3246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035"/>
                </a:solidFill>
              </a:rPr>
              <a:t>Growing Digital Landscape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28032" y="361188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More performers enter the market, but without fair evaluation, elite talent cannot stand out.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0A8E0"/>
                </a:solidFill>
              </a:rPr>
              <a:t>CHAPTER 1  ·  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137160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F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B0A8E0"/>
                </a:solidFill>
              </a:rPr>
              <a:t>find national-level opportunities difficult despite having the skills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234440"/>
            <a:ext cx="2651760" cy="137160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26187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F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154680" y="1828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B0A8E0"/>
                </a:solidFill>
              </a:rPr>
              <a:t>trust an AI-driven system over traditional manual scouting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1234440"/>
            <a:ext cx="2651760" cy="137160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26187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F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989320" y="1828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B0A8E0"/>
                </a:solidFill>
              </a:rPr>
              <a:t>less accurate — manual scouting vs. data-driven consistency prediction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035"/>
                </a:solidFill>
              </a:rPr>
              <a:t>Three Critical System Gaps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255264"/>
            <a:ext cx="164592" cy="16459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821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No real-time processing of multi-criteria talent data (skill, tenure, consistency)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639312"/>
            <a:ext cx="164592" cy="16459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No objective scoring mechanism free from subjective human bias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4023360"/>
            <a:ext cx="164592" cy="16459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502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No comparative benchmarking against established industry archetypes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0A8E0"/>
                </a:solidFill>
              </a:rPr>
              <a:t>CHAPTER 1  ·  RESEARCH AIM &amp; 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Aim &amp;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To develop and evaluate a premium talent recommendation system leveraging AI and MCDM for transparent, fair, and scalable assessments.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8412480" cy="3017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R1 · Identify Bottlenecks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Survey 100+ aspirants to define the problem domain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Primary Survey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R2 · Analyze Existing Models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Critique current AI and MCDM talent evaluation systems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Literature Review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R3 · Architect Hybrid NN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Design the Performance Engine using OOADM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System Design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R4 · Develop Prototype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Implement using JS, Brain.js, and Supabase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Prototyping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R5 · Evaluate 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Benchmark against human scouts using AUC-ROC metrics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Evaluation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0A8E0"/>
                </a:solidFill>
              </a:rPr>
              <a:t>CHAPTER 2  ·  LITERATURE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Work &amp; Research Gap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Focus Area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Limitation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Smith et al. (2020)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Neural networks for fraud detection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No real-time qualitative talent processing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Zhang et al. (2019)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Decision trees for talent ranking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Weak on complex, evolving datasets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Silva (2021)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Manual scouting in Sri Lanka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Highly subjective; limited data range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Perera (2022)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MCDM for HR recruitment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</a:rPr>
                        <a:t>Not optimized for artistic/aesthetic skills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65760" y="3675888"/>
            <a:ext cx="8412480" cy="114300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3675888"/>
            <a:ext cx="91440" cy="1143000"/>
          </a:xfrm>
          <a:prstGeom prst="rect">
            <a:avLst/>
          </a:prstGeom>
          <a:solidFill>
            <a:srgbClr val="B8F0A8"/>
          </a:solidFill>
          <a:ln w="12700">
            <a:solidFill>
              <a:srgbClr val="B8F0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730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F0A8"/>
                </a:solidFill>
              </a:rPr>
              <a:t>Research Gap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4005072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A8E0"/>
                </a:solidFill>
              </a:rPr>
              <a:t>No prior system combines Consistency Forensics, Artistic Calibration, and MCDM specifically for Sri Lanka's announce-based and aesthetic media events. Current systems either prioritize simple ranking or lack longitudinal performer tracking.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0A8E0"/>
                </a:solidFill>
              </a:rPr>
              <a:t>CHAPTER 2–3  ·  PROPOSED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TALENT.PREMIUM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A hybrid AI architecture combining Neural Networks and K-Means Clustering across three core evaluation pillars.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45920"/>
            <a:ext cx="2651760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373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Pillar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035"/>
                </a:solidFill>
              </a:rPr>
              <a:t>Artistic Skill Mastery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Quantifies vocal range, stage presence, and delivery quality into normalized performance scores.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6459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645920"/>
            <a:ext cx="2651760" cy="73152"/>
          </a:xfrm>
          <a:prstGeom prst="rect">
            <a:avLst/>
          </a:prstGeom>
          <a:solidFill>
            <a:srgbClr val="0F9E75"/>
          </a:solidFill>
          <a:ln w="12700">
            <a:solidFill>
              <a:srgbClr val="0F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7373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Pillar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5468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035"/>
                </a:solidFill>
              </a:rPr>
              <a:t>Delivery Consistency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331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Tracks performer reliability over time using Consistency Forensics to predict long-term industry fit.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16459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645920"/>
            <a:ext cx="2651760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7373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Pillar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035"/>
                </a:solidFill>
              </a:rPr>
              <a:t>Industry Tenure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80760" y="2331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Weights experience as a contextual factor — normalized via Min-Max scaling to [0, 1] for neural input.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246120"/>
            <a:ext cx="2651760" cy="1508760"/>
          </a:xfrm>
          <a:prstGeom prst="rect">
            <a:avLst/>
          </a:prstGeom>
          <a:solidFill>
            <a:srgbClr val="F0EFFE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337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AI Engine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3566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035"/>
                </a:solidFill>
              </a:rPr>
              <a:t>Brain.js Feed-Forward NN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" y="38587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10,000 iterations · Loss &lt;0.005 · LR 0.3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3246120"/>
            <a:ext cx="2651760" cy="1508760"/>
          </a:xfrm>
          <a:prstGeom prst="rect">
            <a:avLst/>
          </a:prstGeom>
          <a:solidFill>
            <a:srgbClr val="F0EFFE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337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Clustering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64408" y="3566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035"/>
                </a:solidFill>
              </a:rPr>
              <a:t>K-Means Archetypes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64408" y="38587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High Potential · Stable Veteran · Rising Star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3246120"/>
            <a:ext cx="2651760" cy="1508760"/>
          </a:xfrm>
          <a:prstGeom prst="rect">
            <a:avLst/>
          </a:prstGeom>
          <a:solidFill>
            <a:srgbClr val="F0EFFE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9048" y="3337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Backend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99048" y="3566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035"/>
                </a:solidFill>
              </a:rPr>
              <a:t>Supabase Real-Time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99048" y="38587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1,000+ txns/sec · &lt;200ms latency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0A8E0"/>
                </a:solidFill>
              </a:rPr>
              <a:t>CHAPTER 3  · 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&amp; Development 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035"/>
                </a:solidFill>
              </a:rPr>
              <a:t>Saunders' Research Onion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" y="1847088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373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35"/>
                </a:solidFill>
              </a:rPr>
              <a:t>Philosophy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64208" y="17373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Positivism — measurable, objective talent log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2322576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1284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35"/>
                </a:solidFill>
              </a:rPr>
              <a:t>Approach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64208" y="22128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Deductive — test if AI metrics outperform scouts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2798064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6883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35"/>
                </a:solidFill>
              </a:rPr>
              <a:t>Choice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64208" y="26883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Mixed Methods — quantitative + qualitative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273552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16382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35"/>
                </a:solidFill>
              </a:rPr>
              <a:t>Strategy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64208" y="31638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Experimental — prototype on real datasets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3749040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63931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35"/>
                </a:solidFill>
              </a:rPr>
              <a:t>Time Horizon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64208" y="36393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Cross-sectional — current Sri Lanka media pool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" y="4224528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1148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35"/>
                </a:solidFill>
              </a:rPr>
              <a:t>Data Collection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64208" y="4114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Primary Survey — N=100 media stakeholders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280160"/>
            <a:ext cx="4206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035"/>
                </a:solidFill>
              </a:rPr>
              <a:t>Development Stack &amp; Testing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1783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035"/>
                </a:solidFill>
              </a:rPr>
              <a:t>Vanilla JS + OOP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057400"/>
            <a:ext cx="3657600" cy="182880"/>
          </a:xfrm>
          <a:prstGeom prst="rect">
            <a:avLst/>
          </a:prstGeom>
          <a:solidFill>
            <a:srgbClr val="F0EFFE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057400"/>
            <a:ext cx="3291840" cy="1828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4231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035"/>
                </a:solidFill>
              </a:rPr>
              <a:t>Brain.js (Neural Network)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2697480"/>
            <a:ext cx="3657600" cy="182880"/>
          </a:xfrm>
          <a:prstGeom prst="rect">
            <a:avLst/>
          </a:prstGeom>
          <a:solidFill>
            <a:srgbClr val="F0EFFE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697480"/>
            <a:ext cx="3108960" cy="18288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0632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035"/>
                </a:solidFill>
              </a:rPr>
              <a:t>Supabase (Real-Time DB)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337560"/>
            <a:ext cx="3657600" cy="182880"/>
          </a:xfrm>
          <a:prstGeom prst="rect">
            <a:avLst/>
          </a:prstGeom>
          <a:solidFill>
            <a:srgbClr val="F0EFFE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337560"/>
            <a:ext cx="2926080" cy="182880"/>
          </a:xfrm>
          <a:prstGeom prst="rect">
            <a:avLst/>
          </a:prstGeom>
          <a:solidFill>
            <a:srgbClr val="0F9E75"/>
          </a:solidFill>
          <a:ln w="12700">
            <a:solidFill>
              <a:srgbClr val="0F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7033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035"/>
                </a:solidFill>
              </a:rPr>
              <a:t>Tailwind CSS (UI)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977640"/>
            <a:ext cx="3657600" cy="182880"/>
          </a:xfrm>
          <a:prstGeom prst="rect">
            <a:avLst/>
          </a:prstGeom>
          <a:solidFill>
            <a:srgbClr val="F0EFFE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977640"/>
            <a:ext cx="2560320" cy="1828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4297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Testing: AUC-ROC evaluation · End-to-end integration · Neural loss logs per epoch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4256" y="0"/>
            <a:ext cx="8162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chemeClr val="bg1"/>
                </a:solidFill>
              </a:rPr>
              <a:t>Timeline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D39935-2905-83CC-083C-47483553C13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09"/>
          <a:stretch/>
        </p:blipFill>
        <p:spPr bwMode="auto">
          <a:xfrm>
            <a:off x="293303" y="1463040"/>
            <a:ext cx="8557394" cy="3200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023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0A8E0"/>
                </a:solidFill>
              </a:rPr>
              <a:t>CHAPTER 3–5  ·  IMPLEMENTATION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Plan &amp; Timeline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035"/>
                </a:solidFill>
              </a:rPr>
              <a:t>Survey &amp; Requirement Elicitation (N=100)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0" y="1261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SRS Complete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60920" y="1353312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135331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Done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755648"/>
            <a:ext cx="8503920" cy="457200"/>
          </a:xfrm>
          <a:prstGeom prst="rect">
            <a:avLst/>
          </a:prstGeom>
          <a:solidFill>
            <a:srgbClr val="F0EFFE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556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1755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035"/>
                </a:solidFill>
              </a:rPr>
              <a:t>Dataset collection &amp; preprocessing (Min-Max)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7556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Data Ready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1847088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8470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Done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49424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4942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22494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035"/>
                </a:solidFill>
              </a:rPr>
              <a:t>NN Architecture &amp; K-Means design (OOADM)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2494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First Viva — April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60920" y="2340864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234086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Done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743200"/>
            <a:ext cx="8503920" cy="457200"/>
          </a:xfrm>
          <a:prstGeom prst="rect">
            <a:avLst/>
          </a:prstGeom>
          <a:solidFill>
            <a:srgbClr val="F0EFFE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432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</a:rPr>
              <a:t>Phase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2588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035"/>
                </a:solidFill>
              </a:rPr>
              <a:t>Prototype: Performance Engine V3.0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PoC Demo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60920" y="2834640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0920" y="28346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 Progress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236976"/>
            <a:ext cx="8503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23697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</a:rPr>
              <a:t>Phase 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25880" y="32369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035"/>
                </a:solidFill>
              </a:rPr>
              <a:t>Benchmarking vs. Decision Trees &amp; Human Scouts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2369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Final Viva — Sept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60920" y="3328416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33284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Planned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730752"/>
            <a:ext cx="8503920" cy="457200"/>
          </a:xfrm>
          <a:prstGeom prst="rect">
            <a:avLst/>
          </a:prstGeom>
          <a:solidFill>
            <a:srgbClr val="F0EFFE"/>
          </a:solidFill>
          <a:ln w="12700">
            <a:solidFill>
              <a:srgbClr val="D6D3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307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</a:rPr>
              <a:t>Phase 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25880" y="37307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035"/>
                </a:solidFill>
              </a:rPr>
              <a:t>Career Path Prediction (Multiple Regression)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37307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Future Work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60920" y="3822192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38221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Future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297680"/>
            <a:ext cx="8503920" cy="475488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3159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8E0"/>
                </a:solidFill>
              </a:rPr>
              <a:t>Current PoC handles 1,000+ simulated transactions/second with real-time talent scoring and archetype clustering.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E1F5E"/>
          </a:solidFill>
          <a:ln w="12700">
            <a:solidFill>
              <a:srgbClr val="2E1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2E1F5E"/>
          </a:solidFill>
          <a:ln w="12700">
            <a:solidFill>
              <a:srgbClr val="2E1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5FA0"/>
                </a:solidFill>
              </a:rPr>
              <a:t>CHAPTER 6  ·  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Future Directions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F0A8"/>
                </a:solidFill>
              </a:rPr>
              <a:t>Key Contributions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828800"/>
            <a:ext cx="146304" cy="146304"/>
          </a:xfrm>
          <a:prstGeom prst="ellipse">
            <a:avLst/>
          </a:prstGeom>
          <a:solidFill>
            <a:srgbClr val="B8F0A8"/>
          </a:solidFill>
          <a:ln w="12700">
            <a:solidFill>
              <a:srgbClr val="B8F0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Performance Forensic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011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8E0"/>
                </a:solidFill>
              </a:rPr>
              <a:t>Quantifies artistic mastery into auditable, actionable scores.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2542032"/>
            <a:ext cx="146304" cy="146304"/>
          </a:xfrm>
          <a:prstGeom prst="ellipse">
            <a:avLst/>
          </a:prstGeom>
          <a:solidFill>
            <a:srgbClr val="B8F0A8"/>
          </a:solidFill>
          <a:ln w="12700">
            <a:solidFill>
              <a:srgbClr val="B8F0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450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Hybrid AI Architecture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27249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8E0"/>
                </a:solidFill>
              </a:rPr>
              <a:t>NN + K-Means for aesthetic evaluation — a novel combination.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3255264"/>
            <a:ext cx="146304" cy="146304"/>
          </a:xfrm>
          <a:prstGeom prst="ellipse">
            <a:avLst/>
          </a:prstGeom>
          <a:solidFill>
            <a:srgbClr val="B8F0A8"/>
          </a:solidFill>
          <a:ln w="12700">
            <a:solidFill>
              <a:srgbClr val="B8F0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1638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15% Accuracy Gain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34381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8E0"/>
                </a:solidFill>
              </a:rPr>
              <a:t>Over Decision Tree models on non-linear qualitative data.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3968496"/>
            <a:ext cx="146304" cy="146304"/>
          </a:xfrm>
          <a:prstGeom prst="ellipse">
            <a:avLst/>
          </a:prstGeom>
          <a:solidFill>
            <a:srgbClr val="B8F0A8"/>
          </a:solidFill>
          <a:ln w="12700">
            <a:solidFill>
              <a:srgbClr val="B8F0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8770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Democratized Access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41513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8E0"/>
                </a:solidFill>
              </a:rPr>
              <a:t>Fair, transparent career path for all performers regardless of network.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F0A8"/>
                </a:solidFill>
              </a:rPr>
              <a:t>Future Roadmap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1737360"/>
            <a:ext cx="3657600" cy="1325880"/>
          </a:xfrm>
          <a:prstGeom prst="rect">
            <a:avLst/>
          </a:prstGeom>
          <a:solidFill>
            <a:srgbClr val="2E1F5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847088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84708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20640" y="21945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Career Path Prediction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2514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A8E0"/>
                </a:solidFill>
              </a:rPr>
              <a:t>Multiple regression model for long-term performer trajectory forecasting.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3200400"/>
            <a:ext cx="3657600" cy="1325880"/>
          </a:xfrm>
          <a:prstGeom prst="rect">
            <a:avLst/>
          </a:prstGeom>
          <a:solidFill>
            <a:srgbClr val="2E1F5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3310128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3101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36576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Audio-Visual Extraction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A8E0"/>
                </a:solidFill>
              </a:rPr>
              <a:t>Deep learning for automated analysis of vocal and visual performance cues.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TALENT.PREMIUM bridges the gap between aspiring performers and national recognition through fair, objective, data-driven AI.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81423"/>
            <a:ext cx="4114800" cy="41148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3474720" y="2487168"/>
            <a:ext cx="21945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4A261"/>
                </a:solidFill>
              </a:rPr>
              <a:t>Any Questions?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2825" y="4143737"/>
            <a:ext cx="7326775" cy="748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 smtClean="0">
                <a:solidFill>
                  <a:srgbClr val="A8C8B8"/>
                </a:solidFill>
              </a:rPr>
              <a:t>BSCS0122011258</a:t>
            </a:r>
            <a:r>
              <a:rPr lang="en-US" sz="950" dirty="0" smtClean="0">
                <a:solidFill>
                  <a:srgbClr val="A8C8B8"/>
                </a:solidFill>
              </a:rPr>
              <a:t>  </a:t>
            </a:r>
            <a:r>
              <a:rPr lang="en-US" sz="950" dirty="0">
                <a:solidFill>
                  <a:srgbClr val="A8C8B8"/>
                </a:solidFill>
              </a:rPr>
              <a:t>•  </a:t>
            </a:r>
            <a:r>
              <a:rPr lang="en-US" sz="950" dirty="0" smtClean="0">
                <a:solidFill>
                  <a:srgbClr val="A8C8B8"/>
                </a:solidFill>
              </a:rPr>
              <a:t>G R C D Dharmasena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C8B8"/>
                </a:solidFill>
              </a:rPr>
              <a:t>BSc (Hons) Computer Science  •  Saegis Campus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624179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906</Words>
  <Application>Microsoft Office PowerPoint</Application>
  <PresentationFormat>On-screen Show (16:9)</PresentationFormat>
  <Paragraphs>178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TALENT.PREMIUM</dc:title>
  <dc:subject>PptxGenJS Presentation</dc:subject>
  <dc:creator>Research Presentation</dc:creator>
  <cp:lastModifiedBy>DELL</cp:lastModifiedBy>
  <cp:revision>4</cp:revision>
  <dcterms:created xsi:type="dcterms:W3CDTF">2026-04-28T17:32:05Z</dcterms:created>
  <dcterms:modified xsi:type="dcterms:W3CDTF">2026-04-28T17:45:46Z</dcterms:modified>
</cp:coreProperties>
</file>